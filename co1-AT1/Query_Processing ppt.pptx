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80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database_028090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7684125" y="1218614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13406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 &amp;  DATA MINING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80405" y="858129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4F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Processing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780405" y="2001129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9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data into instant insight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3611880"/>
            <a:ext cx="1188720" cy="0"/>
          </a:xfrm>
          <a:prstGeom prst="line">
            <a:avLst/>
          </a:prstGeom>
          <a:noFill/>
          <a:ln w="31750">
            <a:solidFill>
              <a:srgbClr val="F2C1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886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9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is the bridge between what a user asks for and what a database engine actually does — the layer that makes SQL feel instantaneous, even over billions of rows.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13294D"/>
          </a:solidFill>
          <a:ln w="12700">
            <a:solidFill>
              <a:srgbClr val="2344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074920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85416" y="507492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13294D"/>
          </a:solidFill>
          <a:ln w="12700">
            <a:solidFill>
              <a:srgbClr val="2344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85416" y="507492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50792" y="5074920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13294D"/>
          </a:solidFill>
          <a:ln w="12700">
            <a:solidFill>
              <a:srgbClr val="2344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50792" y="5074920"/>
            <a:ext cx="1362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14416" y="507492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13294D"/>
          </a:solidFill>
          <a:ln w="12700">
            <a:solidFill>
              <a:srgbClr val="2344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14416" y="5074920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at Scale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F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engine behind every fast, intelligent answer a data system gives.</a:t>
            </a:r>
            <a:endParaRPr lang="en-US" sz="1150" dirty="0"/>
          </a:p>
        </p:txBody>
      </p:sp>
      <p:sp>
        <p:nvSpPr>
          <p:cNvPr id="17" name="TextBox 16"/>
          <p:cNvSpPr txBox="1"/>
          <p:nvPr/>
        </p:nvSpPr>
        <p:spPr>
          <a:xfrm>
            <a:off x="784625" y="2570537"/>
            <a:ext cx="37543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Presented By: </a:t>
            </a:r>
            <a:br>
              <a:rPr lang="en-US" dirty="0" smtClean="0">
                <a:solidFill>
                  <a:schemeClr val="bg2"/>
                </a:solidFill>
              </a:rPr>
            </a:br>
            <a:r>
              <a:rPr lang="en-US" dirty="0" smtClean="0">
                <a:solidFill>
                  <a:schemeClr val="bg2"/>
                </a:solidFill>
              </a:rPr>
              <a:t>S. Chandra </a:t>
            </a:r>
            <a:r>
              <a:rPr lang="en-US" dirty="0" err="1" smtClean="0">
                <a:solidFill>
                  <a:schemeClr val="bg2"/>
                </a:solidFill>
              </a:rPr>
              <a:t>Sekhar</a:t>
            </a:r>
            <a:r>
              <a:rPr lang="en-US" dirty="0" smtClean="0">
                <a:solidFill>
                  <a:schemeClr val="bg2"/>
                </a:solidFill>
              </a:rPr>
              <a:t> Reddy – 192372</a:t>
            </a:r>
          </a:p>
          <a:p>
            <a:endParaRPr lang="en-US" dirty="0" smtClean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43368" y="2573216"/>
            <a:ext cx="229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Presented To:</a:t>
            </a:r>
          </a:p>
          <a:p>
            <a:r>
              <a:rPr lang="en-US" dirty="0" smtClean="0">
                <a:solidFill>
                  <a:schemeClr val="bg2"/>
                </a:solidFill>
              </a:rPr>
              <a:t>Beulah David</a:t>
            </a:r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Query Processing?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82296" cy="8229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SQL query is a wish, not a plan.  </a:t>
            </a:r>
            <a:r>
              <a:rPr lang="en-US" sz="14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is the set of activities a DBMS performs to turn a declarative, high-level request into an efficient sequence of operations — deciding which tables to touch, which order to join them, and which access paths and shortcuts to use along the way.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Objectives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300984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46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response 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3300984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3246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resource usage (CPU, I/O, memory)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58184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03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system throughput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71800" y="3758184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3703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result correctness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9F6F3"/>
          </a:solidFill>
          <a:ln/>
          <a:effectLst>
            <a:outerShdw blurRad="101600" dist="38100" dir="5400000" algn="bl" rotWithShape="0">
              <a:srgbClr val="1C3B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507992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2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warehouse scanning billions of rows, the gap between a smart plan and a naive one is the gap between a coffee break and an instant answer. The same query can run in milliseconds or minutes, depending entirely on the plan chosen.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1371600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0" descr="icons/z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945" y="1478585"/>
            <a:ext cx="499262" cy="49926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52360" y="13441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52360" y="1664208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fastest path through massive datasets in milliseconds.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452360" y="216712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by indexing &amp; caching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37960" y="2862072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1" descr="icons/shield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945" y="2969057"/>
            <a:ext cx="499262" cy="49926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452360" y="28346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452360" y="3154680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same correct result no matter how the plan is built.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7452360" y="36576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ACID-compliant execution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537960" y="4352544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2" descr="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945" y="4459529"/>
            <a:ext cx="499262" cy="49926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52360" y="4325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7452360" y="4645152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answers fast as data grows from millions to billions of rows.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7452360" y="51480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parallel &amp; distributed processing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of a Query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typed request to returned result — four stages, milliseconds apart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54480" y="2308860"/>
            <a:ext cx="7360920" cy="0"/>
          </a:xfrm>
          <a:prstGeom prst="line">
            <a:avLst/>
          </a:prstGeom>
          <a:noFill/>
          <a:ln w="25400">
            <a:solidFill>
              <a:srgbClr val="BBD9D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file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" y="2004822"/>
            <a:ext cx="608076" cy="6080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1764792"/>
            <a:ext cx="365760" cy="36576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65760" y="29443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331012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query's syntax, verifies every table and column exists, and builds a parse tree from the raw SQL text.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365760" y="4526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validated parse tree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29000" y="18745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icons/repea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302" y="2004822"/>
            <a:ext cx="608076" cy="6080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023360" y="1764792"/>
            <a:ext cx="365760" cy="36576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0233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108960" y="29443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108960" y="331012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parse tree into relational algebra — an internal, algebraic operator-tree the engine can reason about.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3108960" y="4526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relational algebra tree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72200" y="18745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icons/setting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502" y="2004822"/>
            <a:ext cx="608076" cy="60807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766560" y="1764792"/>
            <a:ext cx="365760" cy="36576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7665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852160" y="29443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852160" y="331012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heuristics like predicate pushdown and join reordering, then estimates cost using table statistics and histograms.</a:t>
            </a:r>
            <a:endParaRPr lang="en-US" sz="1080" dirty="0"/>
          </a:p>
        </p:txBody>
      </p:sp>
      <p:sp>
        <p:nvSpPr>
          <p:cNvPr id="25" name="Text 20"/>
          <p:cNvSpPr/>
          <p:nvPr/>
        </p:nvSpPr>
        <p:spPr>
          <a:xfrm>
            <a:off x="5852160" y="4526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lowest-cost execution plan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915400" y="1874520"/>
            <a:ext cx="868680" cy="868680"/>
          </a:xfrm>
          <a:prstGeom prst="ellipse">
            <a:avLst/>
          </a:prstGeom>
          <a:solidFill>
            <a:srgbClr val="F2C14E"/>
          </a:solidFill>
          <a:ln/>
        </p:spPr>
      </p:sp>
      <p:pic>
        <p:nvPicPr>
          <p:cNvPr id="27" name="Image 3" descr="icons/play_0B1F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702" y="2004822"/>
            <a:ext cx="608076" cy="60807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509760" y="1764792"/>
            <a:ext cx="365760" cy="36576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5097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8595360" y="29443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8595360" y="331012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8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physical access paths — index scan vs. table scan — and pipelines operators to stream the result back live.</a:t>
            </a:r>
            <a:endParaRPr lang="en-US" sz="1080" dirty="0"/>
          </a:p>
        </p:txBody>
      </p:sp>
      <p:sp>
        <p:nvSpPr>
          <p:cNvPr id="32" name="Text 26"/>
          <p:cNvSpPr/>
          <p:nvPr/>
        </p:nvSpPr>
        <p:spPr>
          <a:xfrm>
            <a:off x="8595360" y="4526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the final result set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48640" y="5623560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E9F6F3"/>
          </a:solidFill>
          <a:ln/>
        </p:spPr>
      </p:sp>
      <p:sp>
        <p:nvSpPr>
          <p:cNvPr id="34" name="Text 28"/>
          <p:cNvSpPr/>
          <p:nvPr/>
        </p:nvSpPr>
        <p:spPr>
          <a:xfrm>
            <a:off x="777240" y="5623560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1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happen once per query; step 4 is where all the earlier planning finally pays off.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Optimization: Where the Innovation Happens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is the creative core of the engine — quietly exploring thousands of plans to find one great answer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C3B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calculato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1784909"/>
            <a:ext cx="435254" cy="435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916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Cost-Based Optimization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CPU, memory, and I/O cost of every candidate plan using table statistics and histograms, then picks the cheapest one.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17296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&amp; selectivity estimation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09360" y="14173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C3B4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6916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cons/listTre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949" y="1784909"/>
            <a:ext cx="435254" cy="435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16916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Strategies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83680" y="24231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smart lookup structures so the engine skips millions of irrelevant rows entirely instead of scanning the whole table.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583680" y="317296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 trees, hash &amp; bitmap indexes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7033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C3B4A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9776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icons/wan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9" y="4070909"/>
            <a:ext cx="435254" cy="43525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9776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Rewriting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22960" y="47091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a query into a logically equivalent, faster-to-run version before execution ever begins.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545896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pushdown, subquery flattening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309360" y="37033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C3B4A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39776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icons/networ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949" y="4070909"/>
            <a:ext cx="435254" cy="43525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60920" y="39776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Execution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583680" y="47091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work across cores and cluster nodes so large scans and joins finish in a fraction of the time.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583680" y="545896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Intra-query parallelism, MPP engines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Powering the Data Warehouse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ask harder questions than everyday apps — aggregating years of history across many dimensions at once. Query processing meets that scale with techniques built specifically for analytical workloads.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3B4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38528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s/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3" y="2018081"/>
            <a:ext cx="371246" cy="3712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019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Materialized Views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results, ready before the question is even asked.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173736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3B4A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938528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icons/st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393" y="2018081"/>
            <a:ext cx="371246" cy="37124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9019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Star-Schema Joins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34840" y="2606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plans tuned to the fact-and-dimension shape of the data.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863840" y="173736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3B4A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92440" y="1938528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s/gri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993" y="2018081"/>
            <a:ext cx="371246" cy="37124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19019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Bitmap Indexing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92440" y="2606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filtering across low-cardinality dimension columns.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3B4A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721608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icons/trendingU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3" y="3801161"/>
            <a:ext cx="371246" cy="37124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6850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Pre-Aggregation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3891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Data-cube summaries computed once, reused across countless reports.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06240" y="35204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3B4A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34840" y="3721608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icons/spli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4393" y="3801161"/>
            <a:ext cx="371246" cy="37124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6850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Partitioning &amp; Sharding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34840" y="43891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huge fact tables so scans touch only the relevant slice.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863840" y="35204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3B4A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92440" y="3721608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icons/filte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1993" y="3801161"/>
            <a:ext cx="371246" cy="37124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36850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OLAP Query Rewriting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092440" y="43891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redirects queries to the fastest matching aggregate.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35" name="Text 27"/>
          <p:cNvSpPr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r>
              <a:rPr lang="en-US" sz="1300" i="1" dirty="0">
                <a:solidFill>
                  <a:srgbClr val="F4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that once took minutes return in the time it takes to blink.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parkles_028090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-1097280" y="-109728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Feels Bright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22960" y="1170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is entering its most exciting chapter yet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1" descr="icons/brain_F2C1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46" y="2036826"/>
            <a:ext cx="544068" cy="5440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Self-Learning Engines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22960" y="3246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 that study past queries and get sharper with every run, automatically tuning indexes and statistics.</a:t>
            </a:r>
            <a:endParaRPr lang="en-US" sz="1080" dirty="0"/>
          </a:p>
        </p:txBody>
      </p:sp>
      <p:sp>
        <p:nvSpPr>
          <p:cNvPr id="9" name="Shape 5"/>
          <p:cNvSpPr/>
          <p:nvPr/>
        </p:nvSpPr>
        <p:spPr>
          <a:xfrm>
            <a:off x="4434840" y="1920240"/>
            <a:ext cx="777240" cy="77724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0" name="Image 2" descr="icons/sparkles_F2C1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426" y="2036826"/>
            <a:ext cx="544068" cy="5440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3484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Tuning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434840" y="3246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predicts the best plan before execution starts, replacing guesswork with prediction.</a:t>
            </a:r>
            <a:endParaRPr lang="en-US" sz="1080" dirty="0"/>
          </a:p>
        </p:txBody>
      </p:sp>
      <p:sp>
        <p:nvSpPr>
          <p:cNvPr id="13" name="Shape 8"/>
          <p:cNvSpPr/>
          <p:nvPr/>
        </p:nvSpPr>
        <p:spPr>
          <a:xfrm>
            <a:off x="8046720" y="1920240"/>
            <a:ext cx="777240" cy="77724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4" name="Image 3" descr="icons/rocket_F2C1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3306" y="2036826"/>
            <a:ext cx="544068" cy="5440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4672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Everything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8046720" y="32461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analytical queries answered at the speed of conversation, blurring the line between OLTP and OLAP.</a:t>
            </a:r>
            <a:endParaRPr lang="en-US" sz="1080" dirty="0"/>
          </a:p>
        </p:txBody>
      </p:sp>
      <p:sp>
        <p:nvSpPr>
          <p:cNvPr id="17" name="Shape 11"/>
          <p:cNvSpPr/>
          <p:nvPr/>
        </p:nvSpPr>
        <p:spPr>
          <a:xfrm>
            <a:off x="822960" y="4526280"/>
            <a:ext cx="10515600" cy="0"/>
          </a:xfrm>
          <a:prstGeom prst="line">
            <a:avLst/>
          </a:prstGeom>
          <a:noFill/>
          <a:ln w="12700">
            <a:solidFill>
              <a:srgbClr val="23445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22960" y="5138928"/>
            <a:ext cx="91440" cy="9144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0" name="Text 14"/>
          <p:cNvSpPr/>
          <p:nvPr/>
        </p:nvSpPr>
        <p:spPr>
          <a:xfrm>
            <a:off x="1051560" y="5074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dashboard, recommendation, and instant answer rests on an optimized query plan.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" y="5486400"/>
            <a:ext cx="91440" cy="9144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2" name="Text 16"/>
          <p:cNvSpPr/>
          <p:nvPr/>
        </p:nvSpPr>
        <p:spPr>
          <a:xfrm>
            <a:off x="1051560" y="54223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good and great query processing is the gap between minutes and milliseconds.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22960" y="5833872"/>
            <a:ext cx="91440" cy="9144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4" name="Text 18"/>
          <p:cNvSpPr/>
          <p:nvPr/>
        </p:nvSpPr>
        <p:spPr>
          <a:xfrm>
            <a:off x="1051560" y="57698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keeps growing, smarter query processing — not just bigger hardware — is what keeps insight instant.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quiet magic of query processing.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835</Words>
  <Application>Microsoft Office PowerPoint</Application>
  <PresentationFormat>Widescreen</PresentationFormat>
  <Paragraphs>106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somireddy chandra shekhar reddy</cp:lastModifiedBy>
  <cp:revision>2</cp:revision>
  <dcterms:created xsi:type="dcterms:W3CDTF">2026-07-19T02:37:56Z</dcterms:created>
  <dcterms:modified xsi:type="dcterms:W3CDTF">2026-07-19T02:59:44Z</dcterms:modified>
</cp:coreProperties>
</file>